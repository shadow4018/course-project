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Ubuntu Italics" panose="020B0604020202020204" charset="0"/>
      <p:regular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Ubuntu Bold" panose="020B0604020202020204" charset="0"/>
      <p:regular r:id="rId35"/>
    </p:embeddedFont>
    <p:embeddedFont>
      <p:font typeface="Ubuntu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85470" y="6171993"/>
            <a:ext cx="9373830" cy="420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48"/>
              </a:lnSpc>
              <a:spcBef>
                <a:spcPct val="0"/>
              </a:spcBef>
            </a:pPr>
            <a:r>
              <a:rPr lang="en-US" sz="3048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На тему: «Система управління касою аерофлоту»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85854" y="3266610"/>
            <a:ext cx="10773446" cy="2867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885"/>
              </a:lnSpc>
            </a:pPr>
            <a:r>
              <a:rPr lang="en-US" sz="10885" spc="-85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КУРСОВИЙ ПРОЄКТ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85470" y="6900636"/>
            <a:ext cx="9373830" cy="80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48"/>
              </a:lnSpc>
            </a:pPr>
            <a:r>
              <a:rPr lang="en-US" sz="3048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Виконав: студент групи 243(4)</a:t>
            </a:r>
          </a:p>
          <a:p>
            <a:pPr marL="0" lvl="0" indent="0" algn="r">
              <a:lnSpc>
                <a:spcPts val="3048"/>
              </a:lnSpc>
              <a:spcBef>
                <a:spcPct val="0"/>
              </a:spcBef>
            </a:pPr>
            <a:r>
              <a:rPr lang="en-US" sz="3048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Граневський Богдан Ярославович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04839" y="238125"/>
            <a:ext cx="847832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Основна мета та завдання проєкту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01672"/>
            <a:ext cx="16230600" cy="488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Мета: створення програми для системи управління касою аерофлоту</a:t>
            </a:r>
          </a:p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Завдання: 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реалізувати систему, з можливістю додавання, видалення, редагування, зберігання даних про користувачів і рейси. 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передбачити можливість сортування, фільтрації та пошуку за критеріями для бази рейсів.</a:t>
            </a:r>
          </a:p>
          <a:p>
            <a:pPr marL="851429" lvl="1" indent="-425714" algn="l">
              <a:lnSpc>
                <a:spcPts val="5521"/>
              </a:lnSpc>
              <a:spcBef>
                <a:spcPct val="0"/>
              </a:spcBef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реалізувати можливість придбання квитка для користувача.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79953" y="5926070"/>
            <a:ext cx="2376222" cy="2673668"/>
          </a:xfrm>
          <a:custGeom>
            <a:avLst/>
            <a:gdLst/>
            <a:ahLst/>
            <a:cxnLst/>
            <a:rect l="l" t="t" r="r" b="b"/>
            <a:pathLst>
              <a:path w="2376222" h="2673668">
                <a:moveTo>
                  <a:pt x="0" y="0"/>
                </a:moveTo>
                <a:lnTo>
                  <a:pt x="2376223" y="0"/>
                </a:lnTo>
                <a:lnTo>
                  <a:pt x="2376223" y="2673668"/>
                </a:lnTo>
                <a:lnTo>
                  <a:pt x="0" y="2673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67063" y="1568909"/>
            <a:ext cx="3892000" cy="3386040"/>
          </a:xfrm>
          <a:custGeom>
            <a:avLst/>
            <a:gdLst/>
            <a:ahLst/>
            <a:cxnLst/>
            <a:rect l="l" t="t" r="r" b="b"/>
            <a:pathLst>
              <a:path w="3892000" h="3386040">
                <a:moveTo>
                  <a:pt x="0" y="0"/>
                </a:moveTo>
                <a:lnTo>
                  <a:pt x="3892000" y="0"/>
                </a:lnTo>
                <a:lnTo>
                  <a:pt x="3892000" y="3386041"/>
                </a:lnTo>
                <a:lnTo>
                  <a:pt x="0" y="3386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567972" y="2157958"/>
            <a:ext cx="3401057" cy="2207944"/>
          </a:xfrm>
          <a:custGeom>
            <a:avLst/>
            <a:gdLst/>
            <a:ahLst/>
            <a:cxnLst/>
            <a:rect l="l" t="t" r="r" b="b"/>
            <a:pathLst>
              <a:path w="3401057" h="2207944">
                <a:moveTo>
                  <a:pt x="0" y="0"/>
                </a:moveTo>
                <a:lnTo>
                  <a:pt x="3401057" y="0"/>
                </a:lnTo>
                <a:lnTo>
                  <a:pt x="3401057" y="2207944"/>
                </a:lnTo>
                <a:lnTo>
                  <a:pt x="0" y="22079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79391" y="5821519"/>
            <a:ext cx="2778220" cy="2778220"/>
          </a:xfrm>
          <a:custGeom>
            <a:avLst/>
            <a:gdLst/>
            <a:ahLst/>
            <a:cxnLst/>
            <a:rect l="l" t="t" r="r" b="b"/>
            <a:pathLst>
              <a:path w="2778220" h="2778220">
                <a:moveTo>
                  <a:pt x="0" y="0"/>
                </a:moveTo>
                <a:lnTo>
                  <a:pt x="2778220" y="0"/>
                </a:lnTo>
                <a:lnTo>
                  <a:pt x="2778220" y="2778219"/>
                </a:lnTo>
                <a:lnTo>
                  <a:pt x="0" y="2778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064026" y="238125"/>
            <a:ext cx="815994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Інструментальні засоби розробки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64026" y="2414205"/>
            <a:ext cx="381739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spc="-355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Visual Studio 2022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59063" y="6815229"/>
            <a:ext cx="3622358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spc="-355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C++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23974" y="2814255"/>
            <a:ext cx="284440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spc="-355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STL(List)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23974" y="6072279"/>
            <a:ext cx="3401539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spc="-355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Windows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329047"/>
            <a:ext cx="7669025" cy="3412716"/>
          </a:xfrm>
          <a:custGeom>
            <a:avLst/>
            <a:gdLst/>
            <a:ahLst/>
            <a:cxnLst/>
            <a:rect l="l" t="t" r="r" b="b"/>
            <a:pathLst>
              <a:path w="7669025" h="3412716">
                <a:moveTo>
                  <a:pt x="0" y="0"/>
                </a:moveTo>
                <a:lnTo>
                  <a:pt x="7669025" y="0"/>
                </a:lnTo>
                <a:lnTo>
                  <a:pt x="7669025" y="3412717"/>
                </a:lnTo>
                <a:lnTo>
                  <a:pt x="0" y="3412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441211"/>
            <a:ext cx="7669025" cy="2645814"/>
          </a:xfrm>
          <a:custGeom>
            <a:avLst/>
            <a:gdLst/>
            <a:ahLst/>
            <a:cxnLst/>
            <a:rect l="l" t="t" r="r" b="b"/>
            <a:pathLst>
              <a:path w="7669025" h="2645814">
                <a:moveTo>
                  <a:pt x="0" y="0"/>
                </a:moveTo>
                <a:lnTo>
                  <a:pt x="7669025" y="0"/>
                </a:lnTo>
                <a:lnTo>
                  <a:pt x="7669025" y="2645814"/>
                </a:lnTo>
                <a:lnTo>
                  <a:pt x="0" y="2645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1329047"/>
            <a:ext cx="8115300" cy="3347561"/>
          </a:xfrm>
          <a:custGeom>
            <a:avLst/>
            <a:gdLst/>
            <a:ahLst/>
            <a:cxnLst/>
            <a:rect l="l" t="t" r="r" b="b"/>
            <a:pathLst>
              <a:path w="8115300" h="3347561">
                <a:moveTo>
                  <a:pt x="0" y="0"/>
                </a:moveTo>
                <a:lnTo>
                  <a:pt x="8115300" y="0"/>
                </a:lnTo>
                <a:lnTo>
                  <a:pt x="8115300" y="3347562"/>
                </a:lnTo>
                <a:lnTo>
                  <a:pt x="0" y="3347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64762" y="5245156"/>
            <a:ext cx="7994538" cy="3037924"/>
          </a:xfrm>
          <a:custGeom>
            <a:avLst/>
            <a:gdLst/>
            <a:ahLst/>
            <a:cxnLst/>
            <a:rect l="l" t="t" r="r" b="b"/>
            <a:pathLst>
              <a:path w="7994538" h="3037924">
                <a:moveTo>
                  <a:pt x="0" y="0"/>
                </a:moveTo>
                <a:lnTo>
                  <a:pt x="7994538" y="0"/>
                </a:lnTo>
                <a:lnTo>
                  <a:pt x="7994538" y="3037924"/>
                </a:lnTo>
                <a:lnTo>
                  <a:pt x="0" y="30379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53278" y="238125"/>
            <a:ext cx="678144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сценаріїв програми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660304"/>
            <a:ext cx="7669025" cy="2895057"/>
          </a:xfrm>
          <a:custGeom>
            <a:avLst/>
            <a:gdLst/>
            <a:ahLst/>
            <a:cxnLst/>
            <a:rect l="l" t="t" r="r" b="b"/>
            <a:pathLst>
              <a:path w="7669025" h="2895057">
                <a:moveTo>
                  <a:pt x="0" y="0"/>
                </a:moveTo>
                <a:lnTo>
                  <a:pt x="7669025" y="0"/>
                </a:lnTo>
                <a:lnTo>
                  <a:pt x="7669025" y="2895057"/>
                </a:lnTo>
                <a:lnTo>
                  <a:pt x="0" y="28950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049922"/>
            <a:ext cx="7669025" cy="4208378"/>
          </a:xfrm>
          <a:custGeom>
            <a:avLst/>
            <a:gdLst/>
            <a:ahLst/>
            <a:cxnLst/>
            <a:rect l="l" t="t" r="r" b="b"/>
            <a:pathLst>
              <a:path w="7669025" h="4208378">
                <a:moveTo>
                  <a:pt x="0" y="0"/>
                </a:moveTo>
                <a:lnTo>
                  <a:pt x="7669025" y="0"/>
                </a:lnTo>
                <a:lnTo>
                  <a:pt x="7669025" y="4208378"/>
                </a:lnTo>
                <a:lnTo>
                  <a:pt x="0" y="4208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64762" y="1329047"/>
            <a:ext cx="7994538" cy="3557569"/>
          </a:xfrm>
          <a:custGeom>
            <a:avLst/>
            <a:gdLst/>
            <a:ahLst/>
            <a:cxnLst/>
            <a:rect l="l" t="t" r="r" b="b"/>
            <a:pathLst>
              <a:path w="7994538" h="3557569">
                <a:moveTo>
                  <a:pt x="0" y="0"/>
                </a:moveTo>
                <a:lnTo>
                  <a:pt x="7994538" y="0"/>
                </a:lnTo>
                <a:lnTo>
                  <a:pt x="7994538" y="3557570"/>
                </a:lnTo>
                <a:lnTo>
                  <a:pt x="0" y="35575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64762" y="5780050"/>
            <a:ext cx="7994538" cy="2748122"/>
          </a:xfrm>
          <a:custGeom>
            <a:avLst/>
            <a:gdLst/>
            <a:ahLst/>
            <a:cxnLst/>
            <a:rect l="l" t="t" r="r" b="b"/>
            <a:pathLst>
              <a:path w="7994538" h="2748122">
                <a:moveTo>
                  <a:pt x="0" y="0"/>
                </a:moveTo>
                <a:lnTo>
                  <a:pt x="7994538" y="0"/>
                </a:lnTo>
                <a:lnTo>
                  <a:pt x="7994538" y="2748122"/>
                </a:lnTo>
                <a:lnTo>
                  <a:pt x="0" y="27481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53278" y="238125"/>
            <a:ext cx="678144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сценаріїв програми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329047"/>
            <a:ext cx="7669025" cy="2645814"/>
          </a:xfrm>
          <a:custGeom>
            <a:avLst/>
            <a:gdLst/>
            <a:ahLst/>
            <a:cxnLst/>
            <a:rect l="l" t="t" r="r" b="b"/>
            <a:pathLst>
              <a:path w="7669025" h="2645814">
                <a:moveTo>
                  <a:pt x="0" y="0"/>
                </a:moveTo>
                <a:lnTo>
                  <a:pt x="7669025" y="0"/>
                </a:lnTo>
                <a:lnTo>
                  <a:pt x="7669025" y="2645814"/>
                </a:lnTo>
                <a:lnTo>
                  <a:pt x="0" y="2645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219009"/>
            <a:ext cx="7669025" cy="1610495"/>
          </a:xfrm>
          <a:custGeom>
            <a:avLst/>
            <a:gdLst/>
            <a:ahLst/>
            <a:cxnLst/>
            <a:rect l="l" t="t" r="r" b="b"/>
            <a:pathLst>
              <a:path w="7669025" h="1610495">
                <a:moveTo>
                  <a:pt x="0" y="0"/>
                </a:moveTo>
                <a:lnTo>
                  <a:pt x="7669025" y="0"/>
                </a:lnTo>
                <a:lnTo>
                  <a:pt x="7669025" y="1610495"/>
                </a:lnTo>
                <a:lnTo>
                  <a:pt x="0" y="16104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64762" y="1827518"/>
            <a:ext cx="7994538" cy="1648873"/>
          </a:xfrm>
          <a:custGeom>
            <a:avLst/>
            <a:gdLst/>
            <a:ahLst/>
            <a:cxnLst/>
            <a:rect l="l" t="t" r="r" b="b"/>
            <a:pathLst>
              <a:path w="7994538" h="1648873">
                <a:moveTo>
                  <a:pt x="0" y="0"/>
                </a:moveTo>
                <a:lnTo>
                  <a:pt x="7994538" y="0"/>
                </a:lnTo>
                <a:lnTo>
                  <a:pt x="7994538" y="1648873"/>
                </a:lnTo>
                <a:lnTo>
                  <a:pt x="0" y="16488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64762" y="5049922"/>
            <a:ext cx="7994538" cy="1948669"/>
          </a:xfrm>
          <a:custGeom>
            <a:avLst/>
            <a:gdLst/>
            <a:ahLst/>
            <a:cxnLst/>
            <a:rect l="l" t="t" r="r" b="b"/>
            <a:pathLst>
              <a:path w="7994538" h="1948669">
                <a:moveTo>
                  <a:pt x="0" y="0"/>
                </a:moveTo>
                <a:lnTo>
                  <a:pt x="7994538" y="0"/>
                </a:lnTo>
                <a:lnTo>
                  <a:pt x="7994538" y="1948669"/>
                </a:lnTo>
                <a:lnTo>
                  <a:pt x="0" y="1948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53278" y="238125"/>
            <a:ext cx="678144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сценаріїв програми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329047"/>
            <a:ext cx="7669025" cy="3671546"/>
          </a:xfrm>
          <a:custGeom>
            <a:avLst/>
            <a:gdLst/>
            <a:ahLst/>
            <a:cxnLst/>
            <a:rect l="l" t="t" r="r" b="b"/>
            <a:pathLst>
              <a:path w="7669025" h="3671546">
                <a:moveTo>
                  <a:pt x="0" y="0"/>
                </a:moveTo>
                <a:lnTo>
                  <a:pt x="7669025" y="0"/>
                </a:lnTo>
                <a:lnTo>
                  <a:pt x="7669025" y="3671546"/>
                </a:lnTo>
                <a:lnTo>
                  <a:pt x="0" y="3671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305393"/>
            <a:ext cx="7669025" cy="2885471"/>
          </a:xfrm>
          <a:custGeom>
            <a:avLst/>
            <a:gdLst/>
            <a:ahLst/>
            <a:cxnLst/>
            <a:rect l="l" t="t" r="r" b="b"/>
            <a:pathLst>
              <a:path w="7669025" h="2885471">
                <a:moveTo>
                  <a:pt x="0" y="0"/>
                </a:moveTo>
                <a:lnTo>
                  <a:pt x="7669025" y="0"/>
                </a:lnTo>
                <a:lnTo>
                  <a:pt x="7669025" y="2885471"/>
                </a:lnTo>
                <a:lnTo>
                  <a:pt x="0" y="2885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64762" y="2330390"/>
            <a:ext cx="7994538" cy="1668860"/>
          </a:xfrm>
          <a:custGeom>
            <a:avLst/>
            <a:gdLst/>
            <a:ahLst/>
            <a:cxnLst/>
            <a:rect l="l" t="t" r="r" b="b"/>
            <a:pathLst>
              <a:path w="7994538" h="1668860">
                <a:moveTo>
                  <a:pt x="0" y="0"/>
                </a:moveTo>
                <a:lnTo>
                  <a:pt x="7994538" y="0"/>
                </a:lnTo>
                <a:lnTo>
                  <a:pt x="7994538" y="1668860"/>
                </a:lnTo>
                <a:lnTo>
                  <a:pt x="0" y="16688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64762" y="5305393"/>
            <a:ext cx="7994538" cy="2748122"/>
          </a:xfrm>
          <a:custGeom>
            <a:avLst/>
            <a:gdLst/>
            <a:ahLst/>
            <a:cxnLst/>
            <a:rect l="l" t="t" r="r" b="b"/>
            <a:pathLst>
              <a:path w="7994538" h="2748122">
                <a:moveTo>
                  <a:pt x="0" y="0"/>
                </a:moveTo>
                <a:lnTo>
                  <a:pt x="7994538" y="0"/>
                </a:lnTo>
                <a:lnTo>
                  <a:pt x="7994538" y="2748123"/>
                </a:lnTo>
                <a:lnTo>
                  <a:pt x="0" y="27481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53278" y="238125"/>
            <a:ext cx="678144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сценаріїв програми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3556970"/>
            <a:ext cx="7669025" cy="3173059"/>
          </a:xfrm>
          <a:custGeom>
            <a:avLst/>
            <a:gdLst/>
            <a:ahLst/>
            <a:cxnLst/>
            <a:rect l="l" t="t" r="r" b="b"/>
            <a:pathLst>
              <a:path w="7669025" h="3173059">
                <a:moveTo>
                  <a:pt x="0" y="0"/>
                </a:moveTo>
                <a:lnTo>
                  <a:pt x="7669025" y="0"/>
                </a:lnTo>
                <a:lnTo>
                  <a:pt x="7669025" y="3173060"/>
                </a:lnTo>
                <a:lnTo>
                  <a:pt x="0" y="3173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3475754"/>
            <a:ext cx="8110616" cy="3335491"/>
          </a:xfrm>
          <a:custGeom>
            <a:avLst/>
            <a:gdLst/>
            <a:ahLst/>
            <a:cxnLst/>
            <a:rect l="l" t="t" r="r" b="b"/>
            <a:pathLst>
              <a:path w="8110616" h="3335491">
                <a:moveTo>
                  <a:pt x="0" y="0"/>
                </a:moveTo>
                <a:lnTo>
                  <a:pt x="8110616" y="0"/>
                </a:lnTo>
                <a:lnTo>
                  <a:pt x="8110616" y="3335492"/>
                </a:lnTo>
                <a:lnTo>
                  <a:pt x="0" y="33354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53278" y="238125"/>
            <a:ext cx="6781443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сценаріїв програми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5607" y="1943100"/>
            <a:ext cx="3284581" cy="6992660"/>
          </a:xfrm>
          <a:custGeom>
            <a:avLst/>
            <a:gdLst/>
            <a:ahLst/>
            <a:cxnLst/>
            <a:rect l="l" t="t" r="r" b="b"/>
            <a:pathLst>
              <a:path w="4024557" h="8059460">
                <a:moveTo>
                  <a:pt x="0" y="0"/>
                </a:moveTo>
                <a:lnTo>
                  <a:pt x="4024558" y="0"/>
                </a:lnTo>
                <a:lnTo>
                  <a:pt x="4024558" y="8059460"/>
                </a:lnTo>
                <a:lnTo>
                  <a:pt x="0" y="8059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48600" y="2095500"/>
            <a:ext cx="2895600" cy="6840260"/>
          </a:xfrm>
          <a:custGeom>
            <a:avLst/>
            <a:gdLst/>
            <a:ahLst/>
            <a:cxnLst/>
            <a:rect l="l" t="t" r="r" b="b"/>
            <a:pathLst>
              <a:path w="3256941" h="7922289">
                <a:moveTo>
                  <a:pt x="0" y="0"/>
                </a:moveTo>
                <a:lnTo>
                  <a:pt x="3256941" y="0"/>
                </a:lnTo>
                <a:lnTo>
                  <a:pt x="3256941" y="7922289"/>
                </a:lnTo>
                <a:lnTo>
                  <a:pt x="0" y="7922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77775" y="1943099"/>
            <a:ext cx="3848025" cy="6870179"/>
          </a:xfrm>
          <a:custGeom>
            <a:avLst/>
            <a:gdLst/>
            <a:ahLst/>
            <a:cxnLst/>
            <a:rect l="l" t="t" r="r" b="b"/>
            <a:pathLst>
              <a:path w="4395423" h="7922289">
                <a:moveTo>
                  <a:pt x="0" y="0"/>
                </a:moveTo>
                <a:lnTo>
                  <a:pt x="4395423" y="0"/>
                </a:lnTo>
                <a:lnTo>
                  <a:pt x="4395423" y="7922289"/>
                </a:lnTo>
                <a:lnTo>
                  <a:pt x="0" y="792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37898" y="238125"/>
            <a:ext cx="1001220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Блок схеми алгоритмів роботи програми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99180" y="8983002"/>
            <a:ext cx="385433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8"/>
              </a:lnSpc>
              <a:spcBef>
                <a:spcPct val="0"/>
              </a:spcBef>
            </a:pP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Додавання</a:t>
            </a:r>
            <a:r>
              <a:rPr lang="en-US" sz="3477" i="1" spc="-274" dirty="0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 </a:t>
            </a: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елементу</a:t>
            </a:r>
            <a:endParaRPr lang="en-US" sz="3477" i="1" spc="-274" dirty="0">
              <a:solidFill>
                <a:srgbClr val="000000"/>
              </a:solidFill>
              <a:latin typeface="Ubuntu Italics"/>
              <a:ea typeface="Ubuntu Italics"/>
              <a:cs typeface="Ubuntu Italics"/>
              <a:sym typeface="Ubuntu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81800" y="8935760"/>
            <a:ext cx="416389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8"/>
              </a:lnSpc>
              <a:spcBef>
                <a:spcPct val="0"/>
              </a:spcBef>
            </a:pP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Редагування</a:t>
            </a:r>
            <a:r>
              <a:rPr lang="en-US" sz="3477" i="1" spc="-274" dirty="0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 </a:t>
            </a: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елементу</a:t>
            </a:r>
            <a:endParaRPr lang="en-US" sz="3477" i="1" spc="-274" dirty="0">
              <a:solidFill>
                <a:srgbClr val="000000"/>
              </a:solidFill>
              <a:latin typeface="Ubuntu Italics"/>
              <a:ea typeface="Ubuntu Italics"/>
              <a:cs typeface="Ubuntu Italics"/>
              <a:sym typeface="Ubuntu Itali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658600" y="8983002"/>
            <a:ext cx="443922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8"/>
              </a:lnSpc>
              <a:spcBef>
                <a:spcPct val="0"/>
              </a:spcBef>
            </a:pP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Видалення</a:t>
            </a:r>
            <a:r>
              <a:rPr lang="en-US" sz="3477" i="1" spc="-274" dirty="0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 </a:t>
            </a: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елементу</a:t>
            </a:r>
            <a:endParaRPr lang="en-US" sz="3477" i="1" spc="-274" dirty="0">
              <a:solidFill>
                <a:srgbClr val="000000"/>
              </a:solidFill>
              <a:latin typeface="Ubuntu Italics"/>
              <a:ea typeface="Ubuntu Italics"/>
              <a:cs typeface="Ubuntu Italics"/>
              <a:sym typeface="Ubuntu Itali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67200" y="2038350"/>
            <a:ext cx="3696786" cy="7239000"/>
          </a:xfrm>
          <a:custGeom>
            <a:avLst/>
            <a:gdLst/>
            <a:ahLst/>
            <a:cxnLst/>
            <a:rect l="l" t="t" r="r" b="b"/>
            <a:pathLst>
              <a:path w="3757723" h="8059460">
                <a:moveTo>
                  <a:pt x="0" y="0"/>
                </a:moveTo>
                <a:lnTo>
                  <a:pt x="3757724" y="0"/>
                </a:lnTo>
                <a:lnTo>
                  <a:pt x="3757724" y="8059460"/>
                </a:lnTo>
                <a:lnTo>
                  <a:pt x="0" y="8059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514757" y="1770199"/>
            <a:ext cx="3597245" cy="7543800"/>
          </a:xfrm>
          <a:custGeom>
            <a:avLst/>
            <a:gdLst/>
            <a:ahLst/>
            <a:cxnLst/>
            <a:rect l="l" t="t" r="r" b="b"/>
            <a:pathLst>
              <a:path w="3855859" h="8059460">
                <a:moveTo>
                  <a:pt x="0" y="0"/>
                </a:moveTo>
                <a:lnTo>
                  <a:pt x="3855859" y="0"/>
                </a:lnTo>
                <a:lnTo>
                  <a:pt x="3855859" y="8059460"/>
                </a:lnTo>
                <a:lnTo>
                  <a:pt x="0" y="8059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37898" y="238125"/>
            <a:ext cx="1001220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Блок схеми алгоритмів роботи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81993" y="9313999"/>
            <a:ext cx="42672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8"/>
              </a:lnSpc>
              <a:spcBef>
                <a:spcPct val="0"/>
              </a:spcBef>
            </a:pP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Пошук</a:t>
            </a:r>
            <a:r>
              <a:rPr lang="en-US" sz="3477" i="1" spc="-274" dirty="0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 </a:t>
            </a: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елементу</a:t>
            </a:r>
            <a:endParaRPr lang="en-US" sz="3477" i="1" spc="-274" dirty="0">
              <a:solidFill>
                <a:srgbClr val="000000"/>
              </a:solidFill>
              <a:latin typeface="Ubuntu Italics"/>
              <a:ea typeface="Ubuntu Italics"/>
              <a:cs typeface="Ubuntu Italics"/>
              <a:sym typeface="Ubuntu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296400" y="9344025"/>
            <a:ext cx="563627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8"/>
              </a:lnSpc>
              <a:spcBef>
                <a:spcPct val="0"/>
              </a:spcBef>
            </a:pP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Сортування</a:t>
            </a:r>
            <a:r>
              <a:rPr lang="en-US" sz="3477" i="1" spc="-274" dirty="0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 </a:t>
            </a:r>
            <a:r>
              <a:rPr lang="en-US" sz="3477" i="1" spc="-274" dirty="0" err="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елементів</a:t>
            </a:r>
            <a:endParaRPr lang="en-US" sz="3477" i="1" spc="-274" dirty="0">
              <a:solidFill>
                <a:srgbClr val="000000"/>
              </a:solidFill>
              <a:latin typeface="Ubuntu Italics"/>
              <a:ea typeface="Ubuntu Italics"/>
              <a:cs typeface="Ubuntu Italics"/>
              <a:sym typeface="Ubuntu Itali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885" y="180975"/>
            <a:ext cx="1268423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класів, які реалізують бізнес-логіку програми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01672"/>
            <a:ext cx="16230600" cy="697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Список класів: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IManagable - Інтерфейсний клас, який задає базовий набір методів для класів менеджерів.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FlightManager - Клас нащадок, клас менеджер для керування колекцією об’єктів Flight. Спрямований на завантаження, зберігання, додавання, редагування, видалення, пошук, сортування, фільтрацію та бронювання рейсів.</a:t>
            </a:r>
          </a:p>
          <a:p>
            <a:pPr marL="851429" lvl="1" indent="-425714" algn="l">
              <a:lnSpc>
                <a:spcPts val="5521"/>
              </a:lnSpc>
              <a:spcBef>
                <a:spcPct val="0"/>
              </a:spcBef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UserManager - Клас нащадок, клас менеджер для керування колекцією об’єктів User. Спрямований на реєстрування, редагування, видалення, пошук та виконання авторизації користувачів.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885" y="180975"/>
            <a:ext cx="1268423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класів, які реалізують бізнес-логіку програми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01672"/>
            <a:ext cx="16230600" cy="278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Список класів: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Flight - клас, що представляє собою авіарейс.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User - клас, що представляє собою користувача.</a:t>
            </a:r>
          </a:p>
          <a:p>
            <a:pPr marL="851429" lvl="1" indent="-425714" algn="l">
              <a:lnSpc>
                <a:spcPts val="5521"/>
              </a:lnSpc>
              <a:spcBef>
                <a:spcPct val="0"/>
              </a:spcBef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FileHandler - абстрактний клас для роботи із файлами.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Перелік основних функцій програми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01672"/>
            <a:ext cx="16230600" cy="278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Функції які підтримує програма: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Додавання, видалення, редагування даних.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Сортування, фільтрація, пошук даних.</a:t>
            </a:r>
          </a:p>
          <a:p>
            <a:pPr marL="851429" lvl="1" indent="-425714" algn="l">
              <a:lnSpc>
                <a:spcPts val="5521"/>
              </a:lnSpc>
              <a:spcBef>
                <a:spcPct val="0"/>
              </a:spcBef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Можливість взаємодії користувача із даними.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830637"/>
            <a:ext cx="16230600" cy="1866519"/>
          </a:xfrm>
          <a:custGeom>
            <a:avLst/>
            <a:gdLst/>
            <a:ahLst/>
            <a:cxnLst/>
            <a:rect l="l" t="t" r="r" b="b"/>
            <a:pathLst>
              <a:path w="16230600" h="1866519">
                <a:moveTo>
                  <a:pt x="0" y="0"/>
                </a:moveTo>
                <a:lnTo>
                  <a:pt x="16230600" y="0"/>
                </a:lnTo>
                <a:lnTo>
                  <a:pt x="16230600" y="1866519"/>
                </a:lnTo>
                <a:lnTo>
                  <a:pt x="0" y="1866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46040" y="3791572"/>
            <a:ext cx="3795920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Меню авторизації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634305"/>
            <a:ext cx="7630098" cy="5226617"/>
          </a:xfrm>
          <a:custGeom>
            <a:avLst/>
            <a:gdLst/>
            <a:ahLst/>
            <a:cxnLst/>
            <a:rect l="l" t="t" r="r" b="b"/>
            <a:pathLst>
              <a:path w="7630098" h="5226617">
                <a:moveTo>
                  <a:pt x="0" y="0"/>
                </a:moveTo>
                <a:lnTo>
                  <a:pt x="7630098" y="0"/>
                </a:lnTo>
                <a:lnTo>
                  <a:pt x="7630098" y="5226617"/>
                </a:lnTo>
                <a:lnTo>
                  <a:pt x="0" y="5226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99308" y="1634305"/>
            <a:ext cx="7959992" cy="5235499"/>
          </a:xfrm>
          <a:custGeom>
            <a:avLst/>
            <a:gdLst/>
            <a:ahLst/>
            <a:cxnLst/>
            <a:rect l="l" t="t" r="r" b="b"/>
            <a:pathLst>
              <a:path w="7959992" h="5235499">
                <a:moveTo>
                  <a:pt x="0" y="0"/>
                </a:moveTo>
                <a:lnTo>
                  <a:pt x="7959992" y="0"/>
                </a:lnTo>
                <a:lnTo>
                  <a:pt x="7959992" y="5235499"/>
                </a:lnTo>
                <a:lnTo>
                  <a:pt x="0" y="5235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45789" y="6948563"/>
            <a:ext cx="3795920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Адміністративне меню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81344" y="6948563"/>
            <a:ext cx="3795920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Користувацьке меню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07799" y="1398912"/>
            <a:ext cx="11472401" cy="5836584"/>
          </a:xfrm>
          <a:custGeom>
            <a:avLst/>
            <a:gdLst/>
            <a:ahLst/>
            <a:cxnLst/>
            <a:rect l="l" t="t" r="r" b="b"/>
            <a:pathLst>
              <a:path w="11472401" h="5836584">
                <a:moveTo>
                  <a:pt x="0" y="0"/>
                </a:moveTo>
                <a:lnTo>
                  <a:pt x="11472402" y="0"/>
                </a:lnTo>
                <a:lnTo>
                  <a:pt x="11472402" y="5836584"/>
                </a:lnTo>
                <a:lnTo>
                  <a:pt x="0" y="5836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46040" y="7395799"/>
            <a:ext cx="3795920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Довідка адміністратора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6030" y="1369993"/>
            <a:ext cx="12835940" cy="4669073"/>
          </a:xfrm>
          <a:custGeom>
            <a:avLst/>
            <a:gdLst/>
            <a:ahLst/>
            <a:cxnLst/>
            <a:rect l="l" t="t" r="r" b="b"/>
            <a:pathLst>
              <a:path w="12835940" h="4669073">
                <a:moveTo>
                  <a:pt x="0" y="0"/>
                </a:moveTo>
                <a:lnTo>
                  <a:pt x="12835940" y="0"/>
                </a:lnTo>
                <a:lnTo>
                  <a:pt x="12835940" y="4669073"/>
                </a:lnTo>
                <a:lnTo>
                  <a:pt x="0" y="4669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46040" y="6343866"/>
            <a:ext cx="3795920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Довідка користувача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43725" y="1558949"/>
            <a:ext cx="10800551" cy="2997153"/>
          </a:xfrm>
          <a:custGeom>
            <a:avLst/>
            <a:gdLst/>
            <a:ahLst/>
            <a:cxnLst/>
            <a:rect l="l" t="t" r="r" b="b"/>
            <a:pathLst>
              <a:path w="10800551" h="2997153">
                <a:moveTo>
                  <a:pt x="0" y="0"/>
                </a:moveTo>
                <a:lnTo>
                  <a:pt x="10800550" y="0"/>
                </a:lnTo>
                <a:lnTo>
                  <a:pt x="10800550" y="2997152"/>
                </a:lnTo>
                <a:lnTo>
                  <a:pt x="0" y="2997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69705" y="5726828"/>
            <a:ext cx="7548589" cy="2509906"/>
          </a:xfrm>
          <a:custGeom>
            <a:avLst/>
            <a:gdLst/>
            <a:ahLst/>
            <a:cxnLst/>
            <a:rect l="l" t="t" r="r" b="b"/>
            <a:pathLst>
              <a:path w="7548589" h="2509906">
                <a:moveTo>
                  <a:pt x="0" y="0"/>
                </a:moveTo>
                <a:lnTo>
                  <a:pt x="7548590" y="0"/>
                </a:lnTo>
                <a:lnTo>
                  <a:pt x="7548590" y="2509906"/>
                </a:lnTo>
                <a:lnTo>
                  <a:pt x="0" y="2509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46040" y="4750672"/>
            <a:ext cx="3795920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Вивід усіх рейсів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46040" y="8427234"/>
            <a:ext cx="3795920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Вивід усіх користувачів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93371" y="1475349"/>
            <a:ext cx="11301259" cy="3164353"/>
          </a:xfrm>
          <a:custGeom>
            <a:avLst/>
            <a:gdLst/>
            <a:ahLst/>
            <a:cxnLst/>
            <a:rect l="l" t="t" r="r" b="b"/>
            <a:pathLst>
              <a:path w="11301259" h="3164353">
                <a:moveTo>
                  <a:pt x="0" y="0"/>
                </a:moveTo>
                <a:lnTo>
                  <a:pt x="11301258" y="0"/>
                </a:lnTo>
                <a:lnTo>
                  <a:pt x="11301258" y="3164352"/>
                </a:lnTo>
                <a:lnTo>
                  <a:pt x="0" y="3164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98054" y="5945903"/>
            <a:ext cx="11301259" cy="1539797"/>
          </a:xfrm>
          <a:custGeom>
            <a:avLst/>
            <a:gdLst/>
            <a:ahLst/>
            <a:cxnLst/>
            <a:rect l="l" t="t" r="r" b="b"/>
            <a:pathLst>
              <a:path w="11301259" h="1539797">
                <a:moveTo>
                  <a:pt x="0" y="0"/>
                </a:moveTo>
                <a:lnTo>
                  <a:pt x="11301259" y="0"/>
                </a:lnTo>
                <a:lnTo>
                  <a:pt x="11301259" y="1539797"/>
                </a:lnTo>
                <a:lnTo>
                  <a:pt x="0" y="15397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83638" y="4750672"/>
            <a:ext cx="5320725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Створення нового рейсу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3638" y="7600000"/>
            <a:ext cx="5320725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Створення нового  користувача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93371" y="1654236"/>
            <a:ext cx="11305943" cy="3490710"/>
          </a:xfrm>
          <a:custGeom>
            <a:avLst/>
            <a:gdLst/>
            <a:ahLst/>
            <a:cxnLst/>
            <a:rect l="l" t="t" r="r" b="b"/>
            <a:pathLst>
              <a:path w="11305943" h="3490710">
                <a:moveTo>
                  <a:pt x="0" y="0"/>
                </a:moveTo>
                <a:lnTo>
                  <a:pt x="11305942" y="0"/>
                </a:lnTo>
                <a:lnTo>
                  <a:pt x="11305942" y="3490710"/>
                </a:lnTo>
                <a:lnTo>
                  <a:pt x="0" y="3490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98476" y="5519615"/>
            <a:ext cx="6691047" cy="905966"/>
          </a:xfrm>
          <a:custGeom>
            <a:avLst/>
            <a:gdLst/>
            <a:ahLst/>
            <a:cxnLst/>
            <a:rect l="l" t="t" r="r" b="b"/>
            <a:pathLst>
              <a:path w="6691047" h="905966">
                <a:moveTo>
                  <a:pt x="0" y="0"/>
                </a:moveTo>
                <a:lnTo>
                  <a:pt x="6691048" y="0"/>
                </a:lnTo>
                <a:lnTo>
                  <a:pt x="6691048" y="905966"/>
                </a:lnTo>
                <a:lnTo>
                  <a:pt x="0" y="905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83638" y="6701806"/>
            <a:ext cx="5320725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Редагування рейсу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774068" y="1654236"/>
            <a:ext cx="10739864" cy="1304368"/>
          </a:xfrm>
          <a:custGeom>
            <a:avLst/>
            <a:gdLst/>
            <a:ahLst/>
            <a:cxnLst/>
            <a:rect l="l" t="t" r="r" b="b"/>
            <a:pathLst>
              <a:path w="10739864" h="1304368">
                <a:moveTo>
                  <a:pt x="0" y="0"/>
                </a:moveTo>
                <a:lnTo>
                  <a:pt x="10739864" y="0"/>
                </a:lnTo>
                <a:lnTo>
                  <a:pt x="10739864" y="1304369"/>
                </a:lnTo>
                <a:lnTo>
                  <a:pt x="0" y="1304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623606" y="4555927"/>
            <a:ext cx="11040788" cy="2254161"/>
          </a:xfrm>
          <a:custGeom>
            <a:avLst/>
            <a:gdLst/>
            <a:ahLst/>
            <a:cxnLst/>
            <a:rect l="l" t="t" r="r" b="b"/>
            <a:pathLst>
              <a:path w="11040788" h="2254161">
                <a:moveTo>
                  <a:pt x="0" y="0"/>
                </a:moveTo>
                <a:lnTo>
                  <a:pt x="11040788" y="0"/>
                </a:lnTo>
                <a:lnTo>
                  <a:pt x="11040788" y="2254161"/>
                </a:lnTo>
                <a:lnTo>
                  <a:pt x="0" y="22541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83638" y="3179720"/>
            <a:ext cx="5320725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Зміна імені користувача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3638" y="7029163"/>
            <a:ext cx="5320725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Зміна паролю користувача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98054" y="1654236"/>
            <a:ext cx="11301259" cy="946480"/>
          </a:xfrm>
          <a:custGeom>
            <a:avLst/>
            <a:gdLst/>
            <a:ahLst/>
            <a:cxnLst/>
            <a:rect l="l" t="t" r="r" b="b"/>
            <a:pathLst>
              <a:path w="11301259" h="946480">
                <a:moveTo>
                  <a:pt x="0" y="0"/>
                </a:moveTo>
                <a:lnTo>
                  <a:pt x="11301259" y="0"/>
                </a:lnTo>
                <a:lnTo>
                  <a:pt x="11301259" y="946481"/>
                </a:lnTo>
                <a:lnTo>
                  <a:pt x="0" y="946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93371" y="4180903"/>
            <a:ext cx="11301259" cy="1794075"/>
          </a:xfrm>
          <a:custGeom>
            <a:avLst/>
            <a:gdLst/>
            <a:ahLst/>
            <a:cxnLst/>
            <a:rect l="l" t="t" r="r" b="b"/>
            <a:pathLst>
              <a:path w="11301259" h="1794075">
                <a:moveTo>
                  <a:pt x="0" y="0"/>
                </a:moveTo>
                <a:lnTo>
                  <a:pt x="11301258" y="0"/>
                </a:lnTo>
                <a:lnTo>
                  <a:pt x="11301258" y="1794075"/>
                </a:lnTo>
                <a:lnTo>
                  <a:pt x="0" y="179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83638" y="2804696"/>
            <a:ext cx="5320725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Видалення рейсу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3638" y="6175003"/>
            <a:ext cx="5320725" cy="138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Видалення користувача із системи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00366" y="1654236"/>
            <a:ext cx="12585749" cy="3225098"/>
          </a:xfrm>
          <a:custGeom>
            <a:avLst/>
            <a:gdLst/>
            <a:ahLst/>
            <a:cxnLst/>
            <a:rect l="l" t="t" r="r" b="b"/>
            <a:pathLst>
              <a:path w="12585749" h="3225098">
                <a:moveTo>
                  <a:pt x="0" y="0"/>
                </a:moveTo>
                <a:lnTo>
                  <a:pt x="12585749" y="0"/>
                </a:lnTo>
                <a:lnTo>
                  <a:pt x="12585749" y="3225098"/>
                </a:lnTo>
                <a:lnTo>
                  <a:pt x="0" y="3225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00366" y="6424457"/>
            <a:ext cx="12585749" cy="2139577"/>
          </a:xfrm>
          <a:custGeom>
            <a:avLst/>
            <a:gdLst/>
            <a:ahLst/>
            <a:cxnLst/>
            <a:rect l="l" t="t" r="r" b="b"/>
            <a:pathLst>
              <a:path w="12585749" h="2139577">
                <a:moveTo>
                  <a:pt x="0" y="0"/>
                </a:moveTo>
                <a:lnTo>
                  <a:pt x="12585749" y="0"/>
                </a:lnTo>
                <a:lnTo>
                  <a:pt x="12585749" y="2139577"/>
                </a:lnTo>
                <a:lnTo>
                  <a:pt x="0" y="2139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00366" y="5048250"/>
            <a:ext cx="12585749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Пошук рейсу за одним вказаним параметром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01885" y="8735484"/>
            <a:ext cx="12585749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Пошук рейсу за кількома вказаними параметроми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00366" y="1654236"/>
            <a:ext cx="12585749" cy="4845513"/>
          </a:xfrm>
          <a:custGeom>
            <a:avLst/>
            <a:gdLst/>
            <a:ahLst/>
            <a:cxnLst/>
            <a:rect l="l" t="t" r="r" b="b"/>
            <a:pathLst>
              <a:path w="12585749" h="4845513">
                <a:moveTo>
                  <a:pt x="0" y="0"/>
                </a:moveTo>
                <a:lnTo>
                  <a:pt x="12585749" y="0"/>
                </a:lnTo>
                <a:lnTo>
                  <a:pt x="12585749" y="4845514"/>
                </a:lnTo>
                <a:lnTo>
                  <a:pt x="0" y="484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51125" y="6680436"/>
            <a:ext cx="12585749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Сортування рейсів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00366" y="1654236"/>
            <a:ext cx="12585749" cy="2375560"/>
          </a:xfrm>
          <a:custGeom>
            <a:avLst/>
            <a:gdLst/>
            <a:ahLst/>
            <a:cxnLst/>
            <a:rect l="l" t="t" r="r" b="b"/>
            <a:pathLst>
              <a:path w="12585749" h="2375560">
                <a:moveTo>
                  <a:pt x="0" y="0"/>
                </a:moveTo>
                <a:lnTo>
                  <a:pt x="12585749" y="0"/>
                </a:lnTo>
                <a:lnTo>
                  <a:pt x="12585749" y="2375560"/>
                </a:lnTo>
                <a:lnTo>
                  <a:pt x="0" y="2375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Огляд інтерфейсу програми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51125" y="4253633"/>
            <a:ext cx="12585749" cy="69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  <a:spcBef>
                <a:spcPct val="0"/>
              </a:spcBef>
            </a:pPr>
            <a:r>
              <a:rPr lang="en-US" sz="3943" i="1" spc="-311">
                <a:solidFill>
                  <a:srgbClr val="000000"/>
                </a:solidFill>
                <a:latin typeface="Ubuntu Italics"/>
                <a:ea typeface="Ubuntu Italics"/>
                <a:cs typeface="Ubuntu Italics"/>
                <a:sym typeface="Ubuntu Italics"/>
              </a:rPr>
              <a:t>Фільтрування рейсів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Висновки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01672"/>
            <a:ext cx="16230600" cy="767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У ході виконання курсового проєкту було розроблено консольну інформаційну систему для роботи з базою даних авіарейсів.</a:t>
            </a:r>
          </a:p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У програмі реалізовано: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авторизацію користувачів із розмежуванням прав доступу;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окремі класи для подання рейсів і користувачів;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класи-менеджери які відповідають за виконання базових операцій із об’єктами;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додатковий абстрактний клас який спрощує завантаження й збереження інформації у файли форматів .csv та .txt;</a:t>
            </a:r>
          </a:p>
          <a:p>
            <a:pPr algn="l">
              <a:lnSpc>
                <a:spcPts val="5521"/>
              </a:lnSpc>
            </a:pPr>
            <a:endParaRPr lang="en-US" sz="3943" spc="-31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algn="l">
              <a:lnSpc>
                <a:spcPts val="5521"/>
              </a:lnSpc>
              <a:spcBef>
                <a:spcPct val="0"/>
              </a:spcBef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885" y="180975"/>
            <a:ext cx="1268423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355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Висновки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01672"/>
            <a:ext cx="16230600" cy="767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У процесі розобкибуло закріплено навички: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проєктування структури програмного забезпечення;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роботи із файлами;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обробки помилкового вводу;</a:t>
            </a:r>
          </a:p>
          <a:p>
            <a:pPr marL="851429" lvl="1" indent="-425714" algn="l">
              <a:lnSpc>
                <a:spcPts val="5521"/>
              </a:lnSpc>
              <a:buFont typeface="Arial"/>
              <a:buChar char="•"/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організації діалогу з користувачем через текстове меню;</a:t>
            </a:r>
          </a:p>
          <a:p>
            <a:pPr algn="l">
              <a:lnSpc>
                <a:spcPts val="5521"/>
              </a:lnSpc>
            </a:pPr>
            <a:endParaRPr lang="en-US" sz="3943" spc="-31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algn="l">
              <a:lnSpc>
                <a:spcPts val="5521"/>
              </a:lnSpc>
              <a:spcBef>
                <a:spcPct val="0"/>
              </a:spcBef>
            </a:pPr>
            <a:r>
              <a:rPr lang="en-US" sz="3943" spc="-3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В майбтуньому розроблена система може бути розширена. Перспекативними напрямами для розвитку може виступати розробка графічного інтерфейсу користувача(GUI), підтримка додаткових форматів збереження даних і інтеграція з мережею для оновлення інформації про рейси в режимі реального часу.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01885" y="4187825"/>
            <a:ext cx="12684231" cy="95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spc="-434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499</Words>
  <Application>Microsoft Office PowerPoint</Application>
  <PresentationFormat>Произвольный</PresentationFormat>
  <Paragraphs>90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Ubuntu Italics</vt:lpstr>
      <vt:lpstr>Calibri</vt:lpstr>
      <vt:lpstr>Ubuntu Bold</vt:lpstr>
      <vt:lpstr>Ubuntu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курсова-робота</dc:title>
  <cp:lastModifiedBy>I</cp:lastModifiedBy>
  <cp:revision>2</cp:revision>
  <dcterms:created xsi:type="dcterms:W3CDTF">2006-08-16T00:00:00Z</dcterms:created>
  <dcterms:modified xsi:type="dcterms:W3CDTF">2025-11-26T11:14:54Z</dcterms:modified>
  <dc:identifier>DAG5opGS10M</dc:identifier>
</cp:coreProperties>
</file>